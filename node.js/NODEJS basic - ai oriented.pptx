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11" Type="http://schemas.openxmlformats.org/officeDocument/2006/relationships/slide" Target="slides/slide6.xml"/><Relationship Id="rId22" Type="http://schemas.openxmlformats.org/officeDocument/2006/relationships/font" Target="fonts/Nunito-italic.fntdata"/><Relationship Id="rId10" Type="http://schemas.openxmlformats.org/officeDocument/2006/relationships/slide" Target="slides/slide5.xml"/><Relationship Id="rId21" Type="http://schemas.openxmlformats.org/officeDocument/2006/relationships/font" Target="fonts/Nuni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06f1d39a8_1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006f1d39a8_1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06f1d39a8_1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06f1d39a8_1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006f1d39a8_1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006f1d39a8_1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06f1d39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006f1d39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375174c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d375174c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f2899fcf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f2899fcf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006f1d39a8_1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006f1d39a8_1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06f1d39a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06f1d39a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f2899fcf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f2899fc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f2899fcf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f2899fcf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f2899fcf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f2899fcf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38e096b4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d38e096b4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006f1d39a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006f1d39a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nodejs.org/en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index.j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Nodejs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basic server development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מטרות הקורס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מטרת העל-</a:t>
            </a:r>
            <a:r>
              <a:rPr lang="iw"/>
              <a:t> לימוד יחידת חומר בצורה עצמאית</a:t>
            </a:r>
            <a:endParaRPr>
              <a:solidFill>
                <a:srgbClr val="000000"/>
              </a:solidFill>
            </a:endParaRPr>
          </a:p>
          <a:p>
            <a:pPr indent="0" lvl="0" marL="0" rtl="1" algn="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0"/>
              </a:spcAft>
              <a:buNone/>
            </a:pPr>
            <a:r>
              <a:rPr lang="iw"/>
              <a:t>מטרות משנה:</a:t>
            </a:r>
            <a:endParaRPr/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לימוד שפת Node.js</a:t>
            </a:r>
            <a:endParaRPr/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למידה מונחית ai</a:t>
            </a:r>
            <a:endParaRPr/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הכרת צד שרת</a:t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אופן הלמידה בקורס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1" algn="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מפגש התחלה, אמצע וסיום פרונטלים</a:t>
            </a:r>
            <a:endParaRPr>
              <a:solidFill>
                <a:srgbClr val="000000"/>
              </a:solidFill>
            </a:endParaRPr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למידה עצמאית בין 2-4 שעות הכוללת למידה + תרגול</a:t>
            </a:r>
            <a:endParaRPr/>
          </a:p>
          <a:p>
            <a:pPr indent="0" lvl="0" marL="457200" rtl="1" algn="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1" algn="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חומר הלמידה 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1" algn="r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מצגת מלווה קורס</a:t>
            </a:r>
            <a:endParaRPr>
              <a:solidFill>
                <a:srgbClr val="000000"/>
              </a:solidFill>
            </a:endParaRPr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אינטרנט בסינון נטפרי </a:t>
            </a:r>
            <a:endParaRPr/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תוכנת vscode </a:t>
            </a:r>
            <a:endParaRPr/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תוכנת node.js מותקנת על המחשב (ילמד בשיעור)</a:t>
            </a:r>
            <a:endParaRPr/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גישה ל ai  מסונן</a:t>
            </a:r>
            <a:endParaRPr/>
          </a:p>
          <a:p>
            <a:pPr indent="0" lvl="0" marL="457200" rtl="1" algn="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1" algn="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חובות לימודיים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1" algn="r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w"/>
              <a:t>הגשת מטלה על כל שיעור</a:t>
            </a:r>
            <a:endParaRPr/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Char char="-"/>
            </a:pPr>
            <a:r>
              <a:rPr lang="iw"/>
              <a:t>מענה לשאלות סיכום בסוף כל שיעור</a:t>
            </a:r>
            <a:endParaRPr/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Char char="-"/>
            </a:pPr>
            <a:r>
              <a:rPr lang="iw"/>
              <a:t>עדכון המטלה בגיט</a:t>
            </a:r>
            <a:endParaRPr/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Char char="-"/>
            </a:pPr>
            <a:r>
              <a:rPr lang="iw"/>
              <a:t>פרויקט סיכום בסיום הקורס - מבוסס על שיעורי הבית</a:t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400"/>
              </a:spcAft>
              <a:buNone/>
            </a:pPr>
            <a:r>
              <a:rPr lang="iw"/>
              <a:t>היות והציון מתבסס על ההגשה, יש להגיש בכל מקרה גם אם התרגיל אינו מושלם.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שיעור 1</a:t>
            </a:r>
            <a:endParaRPr/>
          </a:p>
        </p:txBody>
      </p:sp>
      <p:sp>
        <p:nvSpPr>
          <p:cNvPr id="159" name="Google Shape;159;p18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התקנות והרצת שרת בסיסי</a:t>
            </a:r>
            <a:endParaRPr/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נושאי השיעור</a:t>
            </a:r>
            <a:endParaRPr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1" algn="r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w"/>
              <a:t>התקנת nodejs</a:t>
            </a:r>
            <a:endParaRPr/>
          </a:p>
          <a:p>
            <a:pPr indent="-311150" lvl="0" marL="457200" rtl="1" algn="r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w"/>
              <a:t>מה זה nodejs</a:t>
            </a:r>
            <a:endParaRPr/>
          </a:p>
          <a:p>
            <a:pPr indent="-311150" lvl="0" marL="457200" rtl="1" algn="r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w"/>
              <a:t>הרצה על המחשב</a:t>
            </a:r>
            <a:endParaRPr/>
          </a:p>
          <a:p>
            <a:pPr indent="-311150" lvl="0" marL="457200" rtl="1" algn="r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w"/>
              <a:t>הכרות עם npm והתקנת ספריה</a:t>
            </a:r>
            <a:endParaRPr/>
          </a:p>
          <a:p>
            <a:pPr indent="-311150" lvl="0" marL="457200" rtl="1" algn="r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w"/>
              <a:t>הרצת שרת בסיסי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התקנת node.js</a:t>
            </a:r>
            <a:endParaRPr/>
          </a:p>
        </p:txBody>
      </p:sp>
      <p:pic>
        <p:nvPicPr>
          <p:cNvPr id="171" name="Google Shape;171;p2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1750" y="3311875"/>
            <a:ext cx="575310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1911750" y="1374475"/>
            <a:ext cx="6413100" cy="19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התקנת node.js על המחשב הינה התקנה פשוטה.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בדף הבית הראשי של שפת node.js יש אפשרות הורדה לקובץ ההתקנה.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יש להוריד את הקובץ ולהריץ אותו על המחשב.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אשף ההתקנה הינו פשוט: יש לאשר שלב אחרי שלב ולבסוף ההתקנה.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אם node.js כבר מותקן קודם על המחשב, בד"כ תוצג קודם שאלה האם מעונינים בהתקנה מחודשת.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← אף אם node.js מותקן, מומלץ להתקין שוב כדי לקבל את הגרסה העדכנית.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← אם אין רשת, ניתן להוריד את קובץ ההתקנה במחשב אחר שמחובר, ולהעביר את קובץ ההתקנה למחשב שאינו מחובר ולהשתמש בו להתקנה.</a:t>
            </a:r>
            <a:r>
              <a:rPr lang="iw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מה זה שפת NodeJs?</a:t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שפת nodejs מאפשרת הרצה של קוד js בסביבת שרת - ולא בתוך הדפדפן.</a:t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0"/>
              </a:spcAft>
              <a:buNone/>
            </a:pPr>
            <a:r>
              <a:rPr lang="iw"/>
              <a:t>למעשה nodejs זה סביבת הרצה, ולא שפה.</a:t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0"/>
              </a:spcAft>
              <a:buNone/>
            </a:pPr>
            <a:r>
              <a:rPr b="1" lang="iw"/>
              <a:t>דוגמאות לפרומפטים מומלצים:</a:t>
            </a:r>
            <a:endParaRPr b="1"/>
          </a:p>
          <a:p>
            <a:pPr indent="0" lvl="0" marL="0" rtl="1" algn="r">
              <a:spcBef>
                <a:spcPts val="400"/>
              </a:spcBef>
              <a:spcAft>
                <a:spcPts val="0"/>
              </a:spcAft>
              <a:buNone/>
            </a:pPr>
            <a:r>
              <a:rPr lang="iw"/>
              <a:t>Explain Node.js to a frontend developer.</a:t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400"/>
              </a:spcAft>
              <a:buNone/>
            </a:pPr>
            <a:r>
              <a:rPr lang="iw"/>
              <a:t>C</a:t>
            </a:r>
            <a:r>
              <a:rPr lang="iw"/>
              <a:t>ompare browser JavaScript and Node.js.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איך נריץ קוד בסיסי ב nodejs?</a:t>
            </a:r>
            <a:endParaRPr/>
          </a:p>
        </p:txBody>
      </p: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יש ליצור קובץ js פשוט בתוך תיקיה, וולהריץ אותו דרך שורת פקודה.</a:t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0"/>
              </a:spcAft>
              <a:buNone/>
            </a:pPr>
            <a:r>
              <a:rPr b="1" lang="iw"/>
              <a:t>דוגמאות לפרומפטים מומלצים:</a:t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iw"/>
              <a:t>How to run simple node script 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iw"/>
              <a:t>generate simple code example to run node script, and explain how to run it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שימוש ב npm </a:t>
            </a:r>
            <a:endParaRPr/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npm - מנהל החבילות של nodejs. דרכו נתקין ספריות בתוך פרויקטים של node, ואיתו ננהל את הפרויקט שלנו - נקבע אילו ספריות מותקנות בפרויקט, ועוד.</a:t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0"/>
              </a:spcAft>
              <a:buNone/>
            </a:pPr>
            <a:r>
              <a:rPr b="1" lang="iw"/>
              <a:t>דוגמאות לפרומפטים מומלצים:</a:t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iw"/>
              <a:t>what is npm?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iw"/>
              <a:t>Why do Node projects have package.json?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Show me how to install an npm package.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iw"/>
              <a:t>Explain npm init step by step.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iw"/>
              <a:t>what should I check when I install package from npm?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הרצת צד שרת בסיסי</a:t>
            </a:r>
            <a:endParaRPr/>
          </a:p>
        </p:txBody>
      </p:sp>
      <p:sp>
        <p:nvSpPr>
          <p:cNvPr id="196" name="Google Shape;196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הרצת שרת בסיסי ב node זו משימה די פשוטה, היות ו nodejs כולל את המודולים הבסיסיים בשביל להריץ צד שרת.</a:t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400"/>
              </a:spcBef>
              <a:spcAft>
                <a:spcPts val="0"/>
              </a:spcAft>
              <a:buNone/>
            </a:pPr>
            <a:r>
              <a:rPr b="1" lang="iw"/>
              <a:t>דוגמאות לפרומפטים מומלצים:</a:t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iw"/>
              <a:t>Give me a simple HTTP server example.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iw"/>
              <a:t>Explain every line.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iw"/>
              <a:t>What happens when I open localhost:3000 in the browser?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819150" y="2366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משימה 🔨</a:t>
            </a:r>
            <a:endParaRPr/>
          </a:p>
        </p:txBody>
      </p:sp>
      <p:sp>
        <p:nvSpPr>
          <p:cNvPr id="202" name="Google Shape;202;p25"/>
          <p:cNvSpPr txBox="1"/>
          <p:nvPr>
            <p:ph idx="1" type="body"/>
          </p:nvPr>
        </p:nvSpPr>
        <p:spPr>
          <a:xfrm>
            <a:off x="819150" y="765550"/>
            <a:ext cx="7505700" cy="4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1" algn="r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iw"/>
              <a:t>יש להתקין את node.js על המחשב, על מנת לקבל את גרסת node המתקדמת.</a:t>
            </a:r>
            <a:endParaRPr/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AutoNum type="arabicPeriod"/>
            </a:pPr>
            <a:r>
              <a:rPr lang="iw"/>
              <a:t>יש ליצור פרויקט בסיסי ב nodejs</a:t>
            </a:r>
            <a:endParaRPr/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AutoNum type="arabicPeriod"/>
            </a:pPr>
            <a:r>
              <a:rPr lang="iw"/>
              <a:t>בפרויקט יש להתקין את ספרית chalk מ npm, יש להעזר ב ai כדי להבין עבור מה הספריה מיועדת.</a:t>
            </a:r>
            <a:endParaRPr/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AutoNum type="arabicPeriod"/>
            </a:pPr>
            <a:r>
              <a:rPr lang="iw"/>
              <a:t>יש ליצור קובץ </a:t>
            </a:r>
            <a:r>
              <a:rPr lang="iw" u="sng">
                <a:solidFill>
                  <a:schemeClr val="hlink"/>
                </a:solidFill>
                <a:hlinkClick r:id="rId3"/>
              </a:rPr>
              <a:t>index.js</a:t>
            </a:r>
            <a:r>
              <a:rPr lang="iw"/>
              <a:t> בפרויקט, שיכול להציג צד שרת</a:t>
            </a:r>
            <a:endParaRPr/>
          </a:p>
          <a:p>
            <a:pPr indent="-311150" lvl="0" marL="457200" rtl="1" algn="r">
              <a:spcBef>
                <a:spcPts val="400"/>
              </a:spcBef>
              <a:spcAft>
                <a:spcPts val="0"/>
              </a:spcAft>
              <a:buSzPts val="1300"/>
              <a:buAutoNum type="arabicPeriod"/>
            </a:pPr>
            <a:r>
              <a:rPr lang="iw"/>
              <a:t>יש להגדיר בקובץ מערך של קורסים, עם מאפיינים מתאימים לכל קורס: מזהה קורס, שם ותאור.</a:t>
            </a:r>
            <a:endParaRPr/>
          </a:p>
          <a:p>
            <a:pPr indent="-311150" lvl="0" marL="457200" rtl="1" algn="r">
              <a:spcBef>
                <a:spcPts val="400"/>
              </a:spcBef>
              <a:spcAft>
                <a:spcPts val="400"/>
              </a:spcAft>
              <a:buSzPts val="1300"/>
              <a:buAutoNum type="arabicPeriod"/>
            </a:pPr>
            <a:r>
              <a:rPr lang="iw"/>
              <a:t>המטרה הסופית: כאשר ניכנס בדפדפן לכתובת localhost:3000</a:t>
            </a:r>
            <a:br>
              <a:rPr lang="iw"/>
            </a:br>
            <a:r>
              <a:rPr lang="iw"/>
              <a:t>נראה את רשימת הקורסים. כמו כן, כאשר נסתכל בלוגים נראה שם גם כן את רשימת הקורסים, מודפסת בצורה צבעונית.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819150" y="845600"/>
            <a:ext cx="75057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משימה - ביצוע 📐</a:t>
            </a:r>
            <a:endParaRPr/>
          </a:p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819150" y="1515875"/>
            <a:ext cx="7505700" cy="33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1" algn="r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w"/>
              <a:t>יש להשתמש ב ai על מנת ללמוד, להבין וגם לבצע.</a:t>
            </a:r>
            <a:endParaRPr/>
          </a:p>
          <a:p>
            <a:pPr indent="-311150" lvl="0" marL="457200" rtl="1" algn="r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w"/>
              <a:t>כל שורת קוד שנכתבה על ידי ה ai, חובה להבין היטב!</a:t>
            </a:r>
            <a:endParaRPr/>
          </a:p>
          <a:p>
            <a:pPr indent="-311150" lvl="0" marL="457200" rtl="1" algn="r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w"/>
              <a:t>אחרי יצירת הפרויקט הבסיסי, יש להשתמש ב ai כדי לשפר את הקוד, על ידי שאלות בסגנון:</a:t>
            </a:r>
            <a:endParaRPr/>
          </a:p>
          <a:p>
            <a:pPr indent="-298450" lvl="1" marL="914400" rtl="1" algn="r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iw"/>
              <a:t>איזה שגיאות עשויות להיות בקוד?</a:t>
            </a:r>
            <a:endParaRPr/>
          </a:p>
          <a:p>
            <a:pPr indent="-298450" lvl="1" marL="914400" rtl="1" algn="r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iw"/>
              <a:t>איך אפשר לשפר?</a:t>
            </a:r>
            <a:endParaRPr/>
          </a:p>
          <a:p>
            <a:pPr indent="-298450" lvl="1" marL="914400" rtl="1" algn="r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iw"/>
              <a:t>הער לי הערות על מבנה הקוד?</a:t>
            </a:r>
            <a:endParaRPr/>
          </a:p>
          <a:p>
            <a:pPr indent="-311150" lvl="0" marL="457200" rtl="1" algn="r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w"/>
              <a:t>הגשה: יש להעלות ל github את הפרויקט, וצרף אותי כשותפת עריכה בפרויקט. שם המשתמש שלי: chanakamin.</a:t>
            </a:r>
            <a:endParaRPr/>
          </a:p>
          <a:p>
            <a:pPr indent="-311150" lvl="0" marL="457200" rtl="1" algn="r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w"/>
              <a:t>הפרויקט צריך לכלול גם קובץ txt עם פרוט של פרומפטים שונים שנשלחו ל ai ודוגמאות לתשובות.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